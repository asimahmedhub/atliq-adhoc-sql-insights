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5" r:id="rId2"/>
    <p:sldId id="267" r:id="rId3"/>
    <p:sldId id="268" r:id="rId4"/>
    <p:sldId id="269" r:id="rId5"/>
    <p:sldId id="309" r:id="rId6"/>
    <p:sldId id="271" r:id="rId7"/>
    <p:sldId id="307" r:id="rId8"/>
    <p:sldId id="315" r:id="rId9"/>
    <p:sldId id="305" r:id="rId10"/>
    <p:sldId id="317" r:id="rId11"/>
    <p:sldId id="303" r:id="rId12"/>
    <p:sldId id="318" r:id="rId13"/>
    <p:sldId id="300" r:id="rId14"/>
    <p:sldId id="319" r:id="rId15"/>
    <p:sldId id="298" r:id="rId16"/>
    <p:sldId id="320" r:id="rId17"/>
    <p:sldId id="296" r:id="rId18"/>
    <p:sldId id="321" r:id="rId19"/>
    <p:sldId id="294" r:id="rId20"/>
    <p:sldId id="322" r:id="rId21"/>
    <p:sldId id="313" r:id="rId22"/>
    <p:sldId id="326" r:id="rId23"/>
    <p:sldId id="311" r:id="rId24"/>
    <p:sldId id="323" r:id="rId25"/>
    <p:sldId id="29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A7A"/>
    <a:srgbClr val="4B7BCC"/>
    <a:srgbClr val="BFD9F3"/>
    <a:srgbClr val="E6F0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915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504F8-960C-4CB2-8165-3F00DDFBE1F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6DAB2C-5E01-4A12-85A1-F0069EF8089D}">
      <dgm:prSet/>
      <dgm:spPr/>
      <dgm:t>
        <a:bodyPr/>
        <a:lstStyle/>
        <a:p>
          <a:r>
            <a:rPr lang="en-US"/>
            <a:t>The goal is to analyze sales, profit, and performance across different products, regions, and customers.</a:t>
          </a:r>
        </a:p>
      </dgm:t>
    </dgm:pt>
    <dgm:pt modelId="{37680076-A752-47E6-828B-AC3F0CF0E657}" type="parTrans" cxnId="{FE5656DE-A1F8-4F20-8353-8A1AE115459E}">
      <dgm:prSet/>
      <dgm:spPr/>
      <dgm:t>
        <a:bodyPr/>
        <a:lstStyle/>
        <a:p>
          <a:endParaRPr lang="en-US"/>
        </a:p>
      </dgm:t>
    </dgm:pt>
    <dgm:pt modelId="{563E1816-C873-42E1-A414-7AAA667FFCD3}" type="sibTrans" cxnId="{FE5656DE-A1F8-4F20-8353-8A1AE115459E}">
      <dgm:prSet/>
      <dgm:spPr/>
      <dgm:t>
        <a:bodyPr/>
        <a:lstStyle/>
        <a:p>
          <a:endParaRPr lang="en-US"/>
        </a:p>
      </dgm:t>
    </dgm:pt>
    <dgm:pt modelId="{8F1D4FB7-1852-4F50-B73D-B915F4EF9B37}">
      <dgm:prSet/>
      <dgm:spPr/>
      <dgm:t>
        <a:bodyPr/>
        <a:lstStyle/>
        <a:p>
          <a:r>
            <a:rPr lang="en-US" dirty="0"/>
            <a:t>Using historical data, we uncover </a:t>
          </a:r>
          <a:r>
            <a:rPr lang="en-US" b="1" dirty="0"/>
            <a:t>actionable insights</a:t>
          </a:r>
          <a:r>
            <a:rPr lang="en-US" dirty="0"/>
            <a:t> to support data-driven decision-making for AtliQ Consumer Goods.</a:t>
          </a:r>
        </a:p>
      </dgm:t>
    </dgm:pt>
    <dgm:pt modelId="{1A041F15-27F1-40B2-B78F-8C2D6C4499DD}" type="parTrans" cxnId="{FFECE4EA-7464-435B-868C-3D80C8DFF733}">
      <dgm:prSet/>
      <dgm:spPr/>
      <dgm:t>
        <a:bodyPr/>
        <a:lstStyle/>
        <a:p>
          <a:endParaRPr lang="en-US"/>
        </a:p>
      </dgm:t>
    </dgm:pt>
    <dgm:pt modelId="{F50060B6-AD7E-4783-8A0D-8440BEBA727D}" type="sibTrans" cxnId="{FFECE4EA-7464-435B-868C-3D80C8DFF733}">
      <dgm:prSet/>
      <dgm:spPr/>
      <dgm:t>
        <a:bodyPr/>
        <a:lstStyle/>
        <a:p>
          <a:endParaRPr lang="en-US"/>
        </a:p>
      </dgm:t>
    </dgm:pt>
    <dgm:pt modelId="{7DED00C2-661D-4369-B5CA-5D57ABF14B0D}">
      <dgm:prSet/>
      <dgm:spPr/>
      <dgm:t>
        <a:bodyPr/>
        <a:lstStyle/>
        <a:p>
          <a:r>
            <a:rPr lang="en-US" dirty="0"/>
            <a:t>Tools used include </a:t>
          </a:r>
          <a:r>
            <a:rPr lang="en-US" b="1" dirty="0"/>
            <a:t>SQL, Power BI, and PowerPoint </a:t>
          </a:r>
          <a:endParaRPr lang="en-US" dirty="0"/>
        </a:p>
      </dgm:t>
    </dgm:pt>
    <dgm:pt modelId="{609DEE3A-139E-4F4E-A89C-B03EDCDFC681}" type="parTrans" cxnId="{55EB6942-4743-4991-8C11-AD74A4B12859}">
      <dgm:prSet/>
      <dgm:spPr/>
      <dgm:t>
        <a:bodyPr/>
        <a:lstStyle/>
        <a:p>
          <a:endParaRPr lang="en-US"/>
        </a:p>
      </dgm:t>
    </dgm:pt>
    <dgm:pt modelId="{A20BE653-51CC-4800-940A-BA1135D65661}" type="sibTrans" cxnId="{55EB6942-4743-4991-8C11-AD74A4B12859}">
      <dgm:prSet/>
      <dgm:spPr/>
      <dgm:t>
        <a:bodyPr/>
        <a:lstStyle/>
        <a:p>
          <a:endParaRPr lang="en-US"/>
        </a:p>
      </dgm:t>
    </dgm:pt>
    <dgm:pt modelId="{EA051923-E218-4BC7-9DC9-4B113B0246F1}" type="pres">
      <dgm:prSet presAssocID="{DD1504F8-960C-4CB2-8165-3F00DDFBE1F4}" presName="vert0" presStyleCnt="0">
        <dgm:presLayoutVars>
          <dgm:dir/>
          <dgm:animOne val="branch"/>
          <dgm:animLvl val="lvl"/>
        </dgm:presLayoutVars>
      </dgm:prSet>
      <dgm:spPr/>
    </dgm:pt>
    <dgm:pt modelId="{4E9EB881-BCAA-47CE-BC71-421DEC725A49}" type="pres">
      <dgm:prSet presAssocID="{A36DAB2C-5E01-4A12-85A1-F0069EF8089D}" presName="thickLine" presStyleLbl="alignNode1" presStyleIdx="0" presStyleCnt="3"/>
      <dgm:spPr/>
    </dgm:pt>
    <dgm:pt modelId="{4EF7D1C7-69B4-4C84-A7EA-AA172FFD0101}" type="pres">
      <dgm:prSet presAssocID="{A36DAB2C-5E01-4A12-85A1-F0069EF8089D}" presName="horz1" presStyleCnt="0"/>
      <dgm:spPr/>
    </dgm:pt>
    <dgm:pt modelId="{363EDB26-8C74-4A8D-A4C3-9381BFF166DD}" type="pres">
      <dgm:prSet presAssocID="{A36DAB2C-5E01-4A12-85A1-F0069EF8089D}" presName="tx1" presStyleLbl="revTx" presStyleIdx="0" presStyleCnt="3"/>
      <dgm:spPr/>
    </dgm:pt>
    <dgm:pt modelId="{84E4E2B1-7B67-4499-BB8B-0390D5A36C99}" type="pres">
      <dgm:prSet presAssocID="{A36DAB2C-5E01-4A12-85A1-F0069EF8089D}" presName="vert1" presStyleCnt="0"/>
      <dgm:spPr/>
    </dgm:pt>
    <dgm:pt modelId="{807667F5-FF07-4CF9-85CC-295285D3015D}" type="pres">
      <dgm:prSet presAssocID="{8F1D4FB7-1852-4F50-B73D-B915F4EF9B37}" presName="thickLine" presStyleLbl="alignNode1" presStyleIdx="1" presStyleCnt="3"/>
      <dgm:spPr/>
    </dgm:pt>
    <dgm:pt modelId="{A45DD69A-AA66-4881-9ACF-5D2137F4793F}" type="pres">
      <dgm:prSet presAssocID="{8F1D4FB7-1852-4F50-B73D-B915F4EF9B37}" presName="horz1" presStyleCnt="0"/>
      <dgm:spPr/>
    </dgm:pt>
    <dgm:pt modelId="{A42452BE-7F75-44C8-BE7D-2CFE4715A1E8}" type="pres">
      <dgm:prSet presAssocID="{8F1D4FB7-1852-4F50-B73D-B915F4EF9B37}" presName="tx1" presStyleLbl="revTx" presStyleIdx="1" presStyleCnt="3"/>
      <dgm:spPr/>
    </dgm:pt>
    <dgm:pt modelId="{EC43C60C-9AB1-40E8-9A96-712741676C4D}" type="pres">
      <dgm:prSet presAssocID="{8F1D4FB7-1852-4F50-B73D-B915F4EF9B37}" presName="vert1" presStyleCnt="0"/>
      <dgm:spPr/>
    </dgm:pt>
    <dgm:pt modelId="{CC80ECFC-691D-4CBF-BBE7-9838D69DAE8E}" type="pres">
      <dgm:prSet presAssocID="{7DED00C2-661D-4369-B5CA-5D57ABF14B0D}" presName="thickLine" presStyleLbl="alignNode1" presStyleIdx="2" presStyleCnt="3"/>
      <dgm:spPr/>
    </dgm:pt>
    <dgm:pt modelId="{3F2436E0-4BC9-4892-AC7B-28E2FEE31A16}" type="pres">
      <dgm:prSet presAssocID="{7DED00C2-661D-4369-B5CA-5D57ABF14B0D}" presName="horz1" presStyleCnt="0"/>
      <dgm:spPr/>
    </dgm:pt>
    <dgm:pt modelId="{4D27A7E5-3549-4787-878F-D1F17B881E51}" type="pres">
      <dgm:prSet presAssocID="{7DED00C2-661D-4369-B5CA-5D57ABF14B0D}" presName="tx1" presStyleLbl="revTx" presStyleIdx="2" presStyleCnt="3"/>
      <dgm:spPr/>
    </dgm:pt>
    <dgm:pt modelId="{0CC97AE9-6CA7-4EE4-AA65-9F1DC2557331}" type="pres">
      <dgm:prSet presAssocID="{7DED00C2-661D-4369-B5CA-5D57ABF14B0D}" presName="vert1" presStyleCnt="0"/>
      <dgm:spPr/>
    </dgm:pt>
  </dgm:ptLst>
  <dgm:cxnLst>
    <dgm:cxn modelId="{8DDBB43F-24A1-4F3A-B309-1C14A7D76939}" type="presOf" srcId="{A36DAB2C-5E01-4A12-85A1-F0069EF8089D}" destId="{363EDB26-8C74-4A8D-A4C3-9381BFF166DD}" srcOrd="0" destOrd="0" presId="urn:microsoft.com/office/officeart/2008/layout/LinedList"/>
    <dgm:cxn modelId="{55EB6942-4743-4991-8C11-AD74A4B12859}" srcId="{DD1504F8-960C-4CB2-8165-3F00DDFBE1F4}" destId="{7DED00C2-661D-4369-B5CA-5D57ABF14B0D}" srcOrd="2" destOrd="0" parTransId="{609DEE3A-139E-4F4E-A89C-B03EDCDFC681}" sibTransId="{A20BE653-51CC-4800-940A-BA1135D65661}"/>
    <dgm:cxn modelId="{32598DBA-F1B8-4F43-ABAD-A486AF1C4A02}" type="presOf" srcId="{7DED00C2-661D-4369-B5CA-5D57ABF14B0D}" destId="{4D27A7E5-3549-4787-878F-D1F17B881E51}" srcOrd="0" destOrd="0" presId="urn:microsoft.com/office/officeart/2008/layout/LinedList"/>
    <dgm:cxn modelId="{1BCD9EC7-3611-4CFD-B408-C5D44105508D}" type="presOf" srcId="{DD1504F8-960C-4CB2-8165-3F00DDFBE1F4}" destId="{EA051923-E218-4BC7-9DC9-4B113B0246F1}" srcOrd="0" destOrd="0" presId="urn:microsoft.com/office/officeart/2008/layout/LinedList"/>
    <dgm:cxn modelId="{FE5656DE-A1F8-4F20-8353-8A1AE115459E}" srcId="{DD1504F8-960C-4CB2-8165-3F00DDFBE1F4}" destId="{A36DAB2C-5E01-4A12-85A1-F0069EF8089D}" srcOrd="0" destOrd="0" parTransId="{37680076-A752-47E6-828B-AC3F0CF0E657}" sibTransId="{563E1816-C873-42E1-A414-7AAA667FFCD3}"/>
    <dgm:cxn modelId="{FFECE4EA-7464-435B-868C-3D80C8DFF733}" srcId="{DD1504F8-960C-4CB2-8165-3F00DDFBE1F4}" destId="{8F1D4FB7-1852-4F50-B73D-B915F4EF9B37}" srcOrd="1" destOrd="0" parTransId="{1A041F15-27F1-40B2-B78F-8C2D6C4499DD}" sibTransId="{F50060B6-AD7E-4783-8A0D-8440BEBA727D}"/>
    <dgm:cxn modelId="{AB7727F0-6E2B-4F2A-B4C0-CB879408EDE3}" type="presOf" srcId="{8F1D4FB7-1852-4F50-B73D-B915F4EF9B37}" destId="{A42452BE-7F75-44C8-BE7D-2CFE4715A1E8}" srcOrd="0" destOrd="0" presId="urn:microsoft.com/office/officeart/2008/layout/LinedList"/>
    <dgm:cxn modelId="{AFBA4BF3-0623-4CA9-8085-BBAFC633F220}" type="presParOf" srcId="{EA051923-E218-4BC7-9DC9-4B113B0246F1}" destId="{4E9EB881-BCAA-47CE-BC71-421DEC725A49}" srcOrd="0" destOrd="0" presId="urn:microsoft.com/office/officeart/2008/layout/LinedList"/>
    <dgm:cxn modelId="{18C0B364-A395-46B2-806A-89E07FD5ECC6}" type="presParOf" srcId="{EA051923-E218-4BC7-9DC9-4B113B0246F1}" destId="{4EF7D1C7-69B4-4C84-A7EA-AA172FFD0101}" srcOrd="1" destOrd="0" presId="urn:microsoft.com/office/officeart/2008/layout/LinedList"/>
    <dgm:cxn modelId="{EF703334-A3AA-48F7-B134-E7E27BA13BAA}" type="presParOf" srcId="{4EF7D1C7-69B4-4C84-A7EA-AA172FFD0101}" destId="{363EDB26-8C74-4A8D-A4C3-9381BFF166DD}" srcOrd="0" destOrd="0" presId="urn:microsoft.com/office/officeart/2008/layout/LinedList"/>
    <dgm:cxn modelId="{CC29959E-7FCA-4F11-998D-F73F7A71D626}" type="presParOf" srcId="{4EF7D1C7-69B4-4C84-A7EA-AA172FFD0101}" destId="{84E4E2B1-7B67-4499-BB8B-0390D5A36C99}" srcOrd="1" destOrd="0" presId="urn:microsoft.com/office/officeart/2008/layout/LinedList"/>
    <dgm:cxn modelId="{B883F1CB-615D-4C5B-AC78-17AA0444CAA1}" type="presParOf" srcId="{EA051923-E218-4BC7-9DC9-4B113B0246F1}" destId="{807667F5-FF07-4CF9-85CC-295285D3015D}" srcOrd="2" destOrd="0" presId="urn:microsoft.com/office/officeart/2008/layout/LinedList"/>
    <dgm:cxn modelId="{DB80CFEE-7024-415A-B749-FB3E32F9BACD}" type="presParOf" srcId="{EA051923-E218-4BC7-9DC9-4B113B0246F1}" destId="{A45DD69A-AA66-4881-9ACF-5D2137F4793F}" srcOrd="3" destOrd="0" presId="urn:microsoft.com/office/officeart/2008/layout/LinedList"/>
    <dgm:cxn modelId="{A4E62A42-6632-4BB2-9A1F-7238FEE29089}" type="presParOf" srcId="{A45DD69A-AA66-4881-9ACF-5D2137F4793F}" destId="{A42452BE-7F75-44C8-BE7D-2CFE4715A1E8}" srcOrd="0" destOrd="0" presId="urn:microsoft.com/office/officeart/2008/layout/LinedList"/>
    <dgm:cxn modelId="{8C2EC821-FA51-4B16-A133-70CCE8A639F9}" type="presParOf" srcId="{A45DD69A-AA66-4881-9ACF-5D2137F4793F}" destId="{EC43C60C-9AB1-40E8-9A96-712741676C4D}" srcOrd="1" destOrd="0" presId="urn:microsoft.com/office/officeart/2008/layout/LinedList"/>
    <dgm:cxn modelId="{30BBC472-00C5-4604-8A9A-202E57C37B45}" type="presParOf" srcId="{EA051923-E218-4BC7-9DC9-4B113B0246F1}" destId="{CC80ECFC-691D-4CBF-BBE7-9838D69DAE8E}" srcOrd="4" destOrd="0" presId="urn:microsoft.com/office/officeart/2008/layout/LinedList"/>
    <dgm:cxn modelId="{5AF36D2E-4EE2-40FA-88AB-E12A2E18B93B}" type="presParOf" srcId="{EA051923-E218-4BC7-9DC9-4B113B0246F1}" destId="{3F2436E0-4BC9-4892-AC7B-28E2FEE31A16}" srcOrd="5" destOrd="0" presId="urn:microsoft.com/office/officeart/2008/layout/LinedList"/>
    <dgm:cxn modelId="{F0E98B19-B7AC-4856-84D1-A7414C3439A9}" type="presParOf" srcId="{3F2436E0-4BC9-4892-AC7B-28E2FEE31A16}" destId="{4D27A7E5-3549-4787-878F-D1F17B881E51}" srcOrd="0" destOrd="0" presId="urn:microsoft.com/office/officeart/2008/layout/LinedList"/>
    <dgm:cxn modelId="{065A8428-24B7-4612-89ED-9602C3750997}" type="presParOf" srcId="{3F2436E0-4BC9-4892-AC7B-28E2FEE31A16}" destId="{0CC97AE9-6CA7-4EE4-AA65-9F1DC25573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EB881-BCAA-47CE-BC71-421DEC725A49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EDB26-8C74-4A8D-A4C3-9381BFF166DD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 goal is to analyze sales, profit, and performance across different products, regions, and customers.</a:t>
          </a:r>
        </a:p>
      </dsp:txBody>
      <dsp:txXfrm>
        <a:off x="0" y="2209"/>
        <a:ext cx="8229600" cy="1507181"/>
      </dsp:txXfrm>
    </dsp:sp>
    <dsp:sp modelId="{807667F5-FF07-4CF9-85CC-295285D3015D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452BE-7F75-44C8-BE7D-2CFE4715A1E8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Using historical data, we uncover </a:t>
          </a:r>
          <a:r>
            <a:rPr lang="en-US" sz="3000" b="1" kern="1200" dirty="0"/>
            <a:t>actionable insights</a:t>
          </a:r>
          <a:r>
            <a:rPr lang="en-US" sz="3000" kern="1200" dirty="0"/>
            <a:t> to support data-driven decision-making for AtliQ Consumer Goods.</a:t>
          </a:r>
        </a:p>
      </dsp:txBody>
      <dsp:txXfrm>
        <a:off x="0" y="1509390"/>
        <a:ext cx="8229600" cy="1507181"/>
      </dsp:txXfrm>
    </dsp:sp>
    <dsp:sp modelId="{CC80ECFC-691D-4CBF-BBE7-9838D69DAE8E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7A7E5-3549-4787-878F-D1F17B881E51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Tools used include </a:t>
          </a:r>
          <a:r>
            <a:rPr lang="en-US" sz="3000" b="1" kern="1200" dirty="0"/>
            <a:t>SQL, Power BI, and PowerPoint </a:t>
          </a:r>
          <a:endParaRPr lang="en-US" sz="3000" kern="1200" dirty="0"/>
        </a:p>
      </dsp:txBody>
      <dsp:txXfrm>
        <a:off x="0" y="3016572"/>
        <a:ext cx="8229600" cy="1507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links/RBZ00OcqZU?ctid=c6e549b3-5f45-4032-aae9-d4244dc5b2c4&amp;pbi_source=linkShare&amp;bookmarkGuid=1961ad01-fc58-4994-8e81-2b3aeac9f246" TargetMode="External"/><Relationship Id="rId2" Type="http://schemas.openxmlformats.org/officeDocument/2006/relationships/hyperlink" Target="https://github.com/asimahmedhub/AtliQ-Adhoc-SQL-Insights/tree/m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hyperlink" Target="https://www.linkedin.com/in/asimahmed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B2E8EAED-F800-23E4-1D6A-DAA6518EA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1ACBAAC9-4AC4-2EC4-2881-7591DC0317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67" y="71517"/>
            <a:ext cx="1737771" cy="14252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8B01744-2DD5-54C8-66D6-379F38235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883" y="5568134"/>
            <a:ext cx="1951117" cy="128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1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7476-8A7D-E607-8CD8-C0A7B9C2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the project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381C32-FEB2-7819-1EF3-D6FB10F6D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95918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B655DD-9152-15DA-9238-B2FEACE70465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362625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54E60-7D6A-35D9-C2C9-F7FB3A3F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b="1"/>
              <a:t>Problem Statement &amp; Task</a:t>
            </a:r>
            <a:br>
              <a:rPr lang="en-US" sz="4300" b="1"/>
            </a:br>
            <a:endParaRPr lang="en-US" sz="43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9A48-DD13-511B-7E02-B70F46378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Problem Statement:</a:t>
            </a:r>
            <a:endParaRPr lang="en-US" sz="1900" dirty="0"/>
          </a:p>
          <a:p>
            <a:r>
              <a:rPr lang="en-US" sz="1900" b="1" dirty="0"/>
              <a:t>AtliQ Hardwares</a:t>
            </a:r>
            <a:r>
              <a:rPr lang="en-US" sz="1900" dirty="0"/>
              <a:t>, a leading computer hardware producer in India, has expanded globally.</a:t>
            </a:r>
          </a:p>
          <a:p>
            <a:r>
              <a:rPr lang="en-US" sz="1900" dirty="0"/>
              <a:t>The management lacks </a:t>
            </a:r>
            <a:r>
              <a:rPr lang="en-US" sz="1900" b="1" dirty="0"/>
              <a:t>quick, data-informed insights</a:t>
            </a:r>
            <a:r>
              <a:rPr lang="en-US" sz="1900" dirty="0"/>
              <a:t> to support smart decision-making.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Task:</a:t>
            </a:r>
            <a:endParaRPr lang="en-US" sz="1900" dirty="0"/>
          </a:p>
          <a:p>
            <a:r>
              <a:rPr lang="en-US" sz="1900" dirty="0"/>
              <a:t>Review </a:t>
            </a:r>
            <a:r>
              <a:rPr lang="en-US" sz="1900" i="1" dirty="0"/>
              <a:t>ad-hoc-requests.pdf</a:t>
            </a:r>
            <a:r>
              <a:rPr lang="en-US" sz="1900" dirty="0"/>
              <a:t> (10 business questions).</a:t>
            </a:r>
          </a:p>
          <a:p>
            <a:r>
              <a:rPr lang="en-US" sz="1900" dirty="0"/>
              <a:t>Write </a:t>
            </a:r>
            <a:r>
              <a:rPr lang="en-US" sz="1900" b="1" dirty="0"/>
              <a:t>SQL queries</a:t>
            </a:r>
            <a:r>
              <a:rPr lang="en-US" sz="1900" dirty="0"/>
              <a:t> to answer each request.</a:t>
            </a:r>
          </a:p>
          <a:p>
            <a:r>
              <a:rPr lang="en-US" sz="1900" dirty="0"/>
              <a:t>Create a </a:t>
            </a:r>
            <a:r>
              <a:rPr lang="en-US" sz="1900" b="1" dirty="0"/>
              <a:t>presentation</a:t>
            </a:r>
            <a:r>
              <a:rPr lang="en-US" sz="1900" dirty="0"/>
              <a:t> summarizing insights for top management</a:t>
            </a:r>
          </a:p>
          <a:p>
            <a:endParaRPr lang="en-US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BD094-02A5-B619-5A61-303A5DAB00C4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254891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F29AC-9D2B-B561-ACEF-BD7FCF7C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202100"/>
            <a:ext cx="7044316" cy="1330841"/>
          </a:xfrm>
        </p:spPr>
        <p:txBody>
          <a:bodyPr>
            <a:normAutofit/>
          </a:bodyPr>
          <a:lstStyle/>
          <a:p>
            <a:r>
              <a:rPr lang="en-US" dirty="0"/>
              <a:t>Dataset &amp; Tools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C1236A8-56DA-5144-EFB2-B1F062D62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53" y="2198362"/>
            <a:ext cx="4403424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Dataset Overview:</a:t>
            </a:r>
            <a:endParaRPr lang="en-US" sz="1700" dirty="0"/>
          </a:p>
          <a:p>
            <a:r>
              <a:rPr lang="en-US" sz="1700" dirty="0"/>
              <a:t>Contains </a:t>
            </a:r>
            <a:r>
              <a:rPr lang="en-US" sz="1700" b="1" dirty="0"/>
              <a:t>sales, customers, products, markets, and transactions</a:t>
            </a:r>
            <a:r>
              <a:rPr lang="en-US" sz="1700" dirty="0"/>
              <a:t> data.</a:t>
            </a:r>
          </a:p>
          <a:p>
            <a:r>
              <a:rPr lang="en-US" sz="1700" dirty="0"/>
              <a:t>Data is stored in multiple </a:t>
            </a:r>
            <a:r>
              <a:rPr lang="en-US" sz="1700" b="1" dirty="0"/>
              <a:t>relational tables</a:t>
            </a:r>
            <a:r>
              <a:rPr lang="en-US" sz="1700" dirty="0"/>
              <a:t> linked through primary and foreign keys.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Tools Used: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🧩 </a:t>
            </a:r>
            <a:r>
              <a:rPr lang="en-US" sz="1700" b="1" dirty="0"/>
              <a:t>SQL</a:t>
            </a:r>
            <a:r>
              <a:rPr lang="en-US" sz="1700" dirty="0"/>
              <a:t> — to query and analyze data for business questions.</a:t>
            </a:r>
          </a:p>
          <a:p>
            <a:pPr marL="0" indent="0">
              <a:buNone/>
            </a:pPr>
            <a:r>
              <a:rPr lang="en-US" sz="1700" dirty="0"/>
              <a:t>📊 </a:t>
            </a:r>
            <a:r>
              <a:rPr lang="en-US" sz="1700" b="1" dirty="0"/>
              <a:t>Power BI</a:t>
            </a:r>
            <a:r>
              <a:rPr lang="en-US" sz="1700" dirty="0"/>
              <a:t> — to visualize insights and create dashboards.</a:t>
            </a:r>
          </a:p>
          <a:p>
            <a:pPr marL="0" indent="0">
              <a:buNone/>
            </a:pPr>
            <a:r>
              <a:rPr lang="en-US" sz="1700" dirty="0"/>
              <a:t>📄 </a:t>
            </a:r>
            <a:r>
              <a:rPr lang="en-US" sz="1700" b="1" dirty="0"/>
              <a:t>PowerPoint</a:t>
            </a:r>
            <a:r>
              <a:rPr lang="en-US" sz="1700" dirty="0"/>
              <a:t> — for presentation.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3C1851-EA9B-2D40-3578-806CA67E3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517" y="1610414"/>
            <a:ext cx="4311473" cy="4305090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F6F5B-DEB6-B146-A2AB-EEA426282645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95013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0350-8D24-18AE-BCE9-333CF695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BCF82-BF44-EF95-3314-4132CA6E0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Provide the list of markets in which customer "Atliq Exclusive" operates its business in the APAC region.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11346-1850-3A3A-FC08-0B0D603F11E2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1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CDA12-FDCC-2D6B-3C50-47CCCEBEDA89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F967C-289A-0C8A-3825-8857DE2F7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011" y="2133297"/>
            <a:ext cx="3290732" cy="3337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87868B-BDC2-82B6-5CE9-F810B05AEA9B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65168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F5061-A85B-8504-F203-2E93F076E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206" y="362607"/>
            <a:ext cx="6029974" cy="39641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A79CA5-DAE1-8563-10F9-68A8064964A0}"/>
              </a:ext>
            </a:extLst>
          </p:cNvPr>
          <p:cNvSpPr txBox="1"/>
          <p:nvPr/>
        </p:nvSpPr>
        <p:spPr>
          <a:xfrm>
            <a:off x="209444" y="4472651"/>
            <a:ext cx="86893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r>
              <a:rPr lang="en-US" dirty="0"/>
              <a:t>AtliQ Exclusive operates across </a:t>
            </a:r>
            <a:r>
              <a:rPr lang="en-US" b="1" dirty="0"/>
              <a:t>eight APAC markets</a:t>
            </a:r>
            <a:r>
              <a:rPr lang="en-US" dirty="0"/>
              <a:t>, covering a balanced mix of mature (Japan, Australia, South Korea) and emerging (India, Indonesia, Philippines, Bangladesh) regions — reflecting strong regional presence with further expansion potential in Southeast Asia.</a:t>
            </a:r>
          </a:p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F10228-8FDB-979C-5E02-4A9AD70E3581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1229823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DABD-B93C-DBCE-A063-2F109686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F4F2B-7CA3-B51B-5E43-1FD007DAC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What is the percentage of unique product increase in 2021 vs. 2020? The final output contains these fields: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unique_products_2020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unique_products_2021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percentage_chg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8D2DD-B93C-C663-C3D7-E137EFA831F2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2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66785-A73D-E3FC-F4F5-ABF5D4B3077F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38D8DA8-9D61-E230-3B93-4D0CC3124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776" y="2932211"/>
            <a:ext cx="4100049" cy="1729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17761-283A-57C9-B852-3FA16C223CC6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356877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31" y="4560279"/>
            <a:ext cx="88999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AtliQ’s product portfolio expanded from </a:t>
            </a:r>
            <a:r>
              <a:rPr lang="en-US" sz="1600" b="1" dirty="0"/>
              <a:t>245 unique SKUs (FY2020)</a:t>
            </a:r>
            <a:r>
              <a:rPr lang="en-US" sz="1600" dirty="0"/>
              <a:t> to </a:t>
            </a:r>
            <a:r>
              <a:rPr lang="en-US" sz="1600" b="1" dirty="0"/>
              <a:t>334 (FY2021)</a:t>
            </a:r>
            <a:r>
              <a:rPr lang="en-US" sz="1600" dirty="0"/>
              <a:t>—an increase of </a:t>
            </a:r>
            <a:r>
              <a:rPr lang="en-US" sz="1600" b="1" dirty="0"/>
              <a:t>89 SKUs (+36.33%)</a:t>
            </a:r>
            <a:r>
              <a:rPr lang="en-US" sz="1600" dirty="0"/>
              <a:t>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sz="1600" dirty="0"/>
              <a:t>This signals aggressive assortment growth in 2021 and warrants a follow-up on </a:t>
            </a:r>
            <a:r>
              <a:rPr lang="en-US" sz="1600" b="1" dirty="0"/>
              <a:t>new-</a:t>
            </a:r>
            <a:r>
              <a:rPr lang="en-US" sz="1600" b="1" dirty="0" err="1"/>
              <a:t>SKUvs</a:t>
            </a:r>
            <a:r>
              <a:rPr lang="en-US" sz="1600" b="1" dirty="0"/>
              <a:t>. complexity</a:t>
            </a:r>
            <a:r>
              <a:rPr lang="en-US" sz="1600" dirty="0"/>
              <a:t> (sales, margin, and inventory).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640E6C3-D4C7-C438-86BB-47135A21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73" y="1356912"/>
            <a:ext cx="4510700" cy="296286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1331051-8F2A-BF3C-3C20-138D09ED9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36" y="1396509"/>
            <a:ext cx="3652492" cy="29232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94CD32-6CDE-EA71-1CEE-0F206CDEF420}"/>
              </a:ext>
            </a:extLst>
          </p:cNvPr>
          <p:cNvCxnSpPr>
            <a:cxnSpLocks/>
          </p:cNvCxnSpPr>
          <p:nvPr/>
        </p:nvCxnSpPr>
        <p:spPr>
          <a:xfrm>
            <a:off x="3846609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212B-ECF4-54F9-111C-1B97E5AE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8ABAC-95D2-9690-45C6-FFC145CE9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Provide a report with all the unique product counts for each  segment  and sort them in descending order of product counts. The final output contains </a:t>
            </a:r>
          </a:p>
          <a:p>
            <a:pPr marL="0" indent="0">
              <a:buNone/>
            </a:pPr>
            <a:r>
              <a:rPr lang="en-US" sz="2400" dirty="0"/>
              <a:t>2 fields: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product_count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8223F-84E8-60C3-7E3D-A830C2A9E129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3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057AF-D79F-137F-E192-8F940DE0453F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48BA7-FE13-B11E-2A2F-1728F623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53" y="2391096"/>
            <a:ext cx="4076486" cy="3085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CBD96-6565-E046-25EF-EA036DFACAFC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158129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7F80-AB5B-FA00-2821-02C4C74D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55C80-F868-D6E9-D44F-30F5FA6C675A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58349-14E1-4588-EAEA-B558CC3A999C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E5F9E-F55C-C03A-C332-3E5C63CE66C4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7C2C6-80B6-B943-B826-68C19A518F6D}"/>
              </a:ext>
            </a:extLst>
          </p:cNvPr>
          <p:cNvSpPr txBox="1"/>
          <p:nvPr/>
        </p:nvSpPr>
        <p:spPr>
          <a:xfrm>
            <a:off x="106131" y="4560279"/>
            <a:ext cx="889994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SKU breadth is heavily concentrated in </a:t>
            </a:r>
            <a:r>
              <a:rPr lang="en-US" sz="1600" b="1" dirty="0"/>
              <a:t>Notebook (129)</a:t>
            </a:r>
            <a:r>
              <a:rPr lang="en-US" sz="1600" dirty="0"/>
              <a:t>, </a:t>
            </a:r>
            <a:r>
              <a:rPr lang="en-US" sz="1600" b="1" dirty="0"/>
              <a:t>Accessories (116)</a:t>
            </a:r>
            <a:r>
              <a:rPr lang="en-US" sz="1600" dirty="0"/>
              <a:t>, and </a:t>
            </a:r>
            <a:r>
              <a:rPr lang="en-US" sz="1600" b="1" dirty="0"/>
              <a:t>Peripherals (84)</a:t>
            </a:r>
            <a:r>
              <a:rPr lang="en-US" sz="1600" dirty="0"/>
              <a:t>—these top three account for </a:t>
            </a:r>
            <a:r>
              <a:rPr lang="en-US" sz="1600" b="1" dirty="0"/>
              <a:t>~83% of the portfolio (329/397)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long tail</a:t>
            </a:r>
            <a:r>
              <a:rPr lang="en-US" sz="1600" dirty="0"/>
              <a:t>—</a:t>
            </a:r>
            <a:r>
              <a:rPr lang="en-US" sz="1600" b="1" dirty="0"/>
              <a:t>Desktop (32), Storage (27), Networking (9)</a:t>
            </a:r>
            <a:r>
              <a:rPr lang="en-US" sz="1600" dirty="0"/>
              <a:t>—is relatively thin, suggesting either focus areas for growth or candidates for SKU rationalization.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D0612-A1FB-5A24-D6CD-409BF8C233ED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E208EE-CF33-003C-74A5-89314FE0E106}"/>
              </a:ext>
            </a:extLst>
          </p:cNvPr>
          <p:cNvCxnSpPr/>
          <p:nvPr/>
        </p:nvCxnSpPr>
        <p:spPr>
          <a:xfrm>
            <a:off x="4153109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F74B898-DA76-F300-72A4-48A921B70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29" y="1356913"/>
            <a:ext cx="3984535" cy="3322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B735C5-EBDB-4420-4E23-5E1CA4E41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522" y="1356913"/>
            <a:ext cx="4086746" cy="332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3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7FD8-DF6A-22E3-0014-E1835F72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7A0B-CC57-4012-463A-CF9FC8478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Which segment had the most increase in unique products in 2021 vs 2020? The final output contains these fields,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product_count_2020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product_count_2021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Difference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CE49D-30F9-13C0-3C97-D272DF98FAC5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4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4E8A2-5F37-3D43-845D-EA2541BB7FA5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442478-F3A9-73D9-4974-1DA95074E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2" y="2354961"/>
            <a:ext cx="4380011" cy="28427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0E8BE3-1F34-F82F-0DAB-5824CFF939CD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1794391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6D05-5B47-D2E9-6A11-41DF41A7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9251-CA69-5012-9E5E-8ED15B237B70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01622-E892-9A6F-B185-3A88EC67772A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C0DF5-6138-32C7-6DFD-77E3CFA7622E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F5358-8803-27AD-694F-B32A754739C8}"/>
              </a:ext>
            </a:extLst>
          </p:cNvPr>
          <p:cNvSpPr txBox="1"/>
          <p:nvPr/>
        </p:nvSpPr>
        <p:spPr>
          <a:xfrm>
            <a:off x="106131" y="4560279"/>
            <a:ext cx="889994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Portfolio expanded across all segments from </a:t>
            </a:r>
            <a:r>
              <a:rPr lang="en-US" altLang="en-US" sz="1600" b="1" dirty="0">
                <a:latin typeface="Arial" panose="020B0604020202020204" pitchFamily="34" charset="0"/>
              </a:rPr>
              <a:t>245 → 334 SKUs (+36.3%)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Biggest driver: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Accessories +34</a:t>
            </a:r>
            <a:r>
              <a:rPr lang="en-US" altLang="en-US" sz="1600" dirty="0">
                <a:latin typeface="Arial" panose="020B0604020202020204" pitchFamily="34" charset="0"/>
              </a:rPr>
              <a:t> SKUs (</a:t>
            </a:r>
            <a:r>
              <a:rPr lang="en-US" altLang="en-US" sz="1600" b="1" dirty="0">
                <a:latin typeface="Arial" panose="020B0604020202020204" pitchFamily="34" charset="0"/>
              </a:rPr>
              <a:t>69 → 103</a:t>
            </a:r>
            <a:r>
              <a:rPr lang="en-US" altLang="en-US" sz="1600" dirty="0">
                <a:latin typeface="Arial" panose="020B0604020202020204" pitchFamily="34" charset="0"/>
              </a:rPr>
              <a:t>), contributing </a:t>
            </a:r>
            <a:r>
              <a:rPr lang="en-US" altLang="en-US" sz="1600" b="1" dirty="0">
                <a:latin typeface="Arial" panose="020B0604020202020204" pitchFamily="34" charset="0"/>
              </a:rPr>
              <a:t>~38%</a:t>
            </a:r>
            <a:r>
              <a:rPr lang="en-US" altLang="en-US" sz="1600" dirty="0">
                <a:latin typeface="Arial" panose="020B0604020202020204" pitchFamily="34" charset="0"/>
              </a:rPr>
              <a:t> of total growth.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Largest segment remains Notebook: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92 → 108 (+16)</a:t>
            </a:r>
            <a:r>
              <a:rPr lang="en-US" altLang="en-US" sz="1600" dirty="0">
                <a:latin typeface="Arial" panose="020B0604020202020204" pitchFamily="34" charset="0"/>
              </a:rPr>
              <a:t>; steady, not the main growth engine.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Fastest % growth: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Desktop +214% (7 → 22)</a:t>
            </a:r>
            <a:r>
              <a:rPr lang="en-US" altLang="en-US" sz="1600" dirty="0">
                <a:latin typeface="Arial" panose="020B0604020202020204" pitchFamily="34" charset="0"/>
              </a:rPr>
              <a:t> - small base but rapid expansion.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Peripherals +27% (59 → 75)</a:t>
            </a:r>
            <a:r>
              <a:rPr lang="en-US" altLang="en-US" sz="1600" dirty="0">
                <a:latin typeface="Arial" panose="020B0604020202020204" pitchFamily="34" charset="0"/>
              </a:rPr>
              <a:t>; </a:t>
            </a:r>
            <a:r>
              <a:rPr lang="en-US" altLang="en-US" sz="1600" b="1" dirty="0">
                <a:latin typeface="Arial" panose="020B0604020202020204" pitchFamily="34" charset="0"/>
              </a:rPr>
              <a:t>Storage +42% (12 → 17)</a:t>
            </a:r>
            <a:r>
              <a:rPr lang="en-US" altLang="en-US" sz="1600" dirty="0">
                <a:latin typeface="Arial" panose="020B0604020202020204" pitchFamily="34" charset="0"/>
              </a:rPr>
              <a:t>; </a:t>
            </a:r>
            <a:r>
              <a:rPr lang="en-US" altLang="en-US" sz="1600" b="1" dirty="0">
                <a:latin typeface="Arial" panose="020B0604020202020204" pitchFamily="34" charset="0"/>
              </a:rPr>
              <a:t>Networking +50% (6 → 9)</a:t>
            </a:r>
            <a:r>
              <a:rPr lang="en-US" altLang="en-US" sz="1600" dirty="0">
                <a:latin typeface="Arial" panose="020B0604020202020204" pitchFamily="34" charset="0"/>
              </a:rPr>
              <a:t>- broad-based uplift.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78762-FE4F-F1B1-CDC2-4EAC274B2D85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18F59D-E276-BFD3-7273-979BFE73A81F}"/>
              </a:ext>
            </a:extLst>
          </p:cNvPr>
          <p:cNvCxnSpPr/>
          <p:nvPr/>
        </p:nvCxnSpPr>
        <p:spPr>
          <a:xfrm>
            <a:off x="4153109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E73F680-4B73-B0AD-4EA7-79BC0DC7F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90" y="1315874"/>
            <a:ext cx="4193984" cy="3135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B0F066-D0A6-8CCE-6DC9-6E645238F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6" y="1307023"/>
            <a:ext cx="4057760" cy="313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B77B-B4D6-2CD6-0BB4-FA049E51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327E-58E1-3D11-0888-FF1779CE2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Get the products that have the highest and lowest manufacturing costs. The final output should contain these fields: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product_code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manufacturing_cost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1A06D-8DC6-606F-088B-42CCA37D1FA2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5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E50A4-E820-FFCE-F87E-646E13513AF5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0B123D-53FA-6D79-D66A-940794B0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2" y="2512045"/>
            <a:ext cx="4342972" cy="25043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CBE7CB-E043-B263-7170-3C32A32B9246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222448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9B11-CF47-350B-A3F0-B6A80093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B3D01-2B99-A000-54B5-0A1BC10FCDE4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09A40-3D56-BB7D-9811-EFFD0128AACE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E7C61-FC53-D237-E2B8-BBF314AD5FBA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8A8BB-A2EB-FF95-A78B-58CD6D664CCE}"/>
              </a:ext>
            </a:extLst>
          </p:cNvPr>
          <p:cNvSpPr txBox="1"/>
          <p:nvPr/>
        </p:nvSpPr>
        <p:spPr>
          <a:xfrm>
            <a:off x="106131" y="4560279"/>
            <a:ext cx="889994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There’s a </a:t>
            </a:r>
            <a:r>
              <a:rPr lang="en-US" sz="1600" b="1" dirty="0"/>
              <a:t>huge cost disparity</a:t>
            </a:r>
            <a:r>
              <a:rPr lang="en-US" sz="1600" dirty="0"/>
              <a:t> between products — the </a:t>
            </a:r>
            <a:r>
              <a:rPr lang="en-US" sz="1600" b="1" dirty="0"/>
              <a:t>AQ HOME Allin1 Gen 2</a:t>
            </a:r>
            <a:r>
              <a:rPr lang="en-US" sz="1600" dirty="0"/>
              <a:t> has the </a:t>
            </a:r>
            <a:r>
              <a:rPr lang="en-US" sz="1600" b="1" dirty="0"/>
              <a:t>highest manufacturing cost (₹240.54)</a:t>
            </a:r>
            <a:r>
              <a:rPr lang="en-US" sz="1600" dirty="0"/>
              <a:t>, while the </a:t>
            </a:r>
            <a:r>
              <a:rPr lang="en-US" sz="1600" b="1" dirty="0"/>
              <a:t>AQ Master Wired x1 </a:t>
            </a:r>
            <a:r>
              <a:rPr lang="en-US" sz="1600" b="1" dirty="0" err="1"/>
              <a:t>Ms</a:t>
            </a:r>
            <a:r>
              <a:rPr lang="en-US" sz="1600" dirty="0"/>
              <a:t> has the </a:t>
            </a:r>
            <a:r>
              <a:rPr lang="en-US" sz="1600" b="1" dirty="0"/>
              <a:t>lowest (₹0.89)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</a:t>
            </a:r>
            <a:r>
              <a:rPr lang="en-US" sz="1600" b="1" dirty="0"/>
              <a:t>270x cost gap</a:t>
            </a:r>
            <a:r>
              <a:rPr lang="en-US" sz="1600" dirty="0"/>
              <a:t> highlights a </a:t>
            </a:r>
            <a:r>
              <a:rPr lang="en-US" sz="1600" b="1" dirty="0"/>
              <a:t>diverse product portfolio</a:t>
            </a:r>
            <a:r>
              <a:rPr lang="en-US" sz="1600" dirty="0"/>
              <a:t>, ranging from </a:t>
            </a:r>
            <a:r>
              <a:rPr lang="en-US" sz="1600" b="1" dirty="0"/>
              <a:t>high-end systems</a:t>
            </a:r>
            <a:r>
              <a:rPr lang="en-US" sz="1600" dirty="0"/>
              <a:t> to </a:t>
            </a:r>
            <a:r>
              <a:rPr lang="en-US" sz="1600" b="1" dirty="0"/>
              <a:t>low-cost peripherals</a:t>
            </a:r>
            <a:r>
              <a:rPr lang="en-US" sz="1600" dirty="0"/>
              <a:t>, reflecting AtliQ’s multi-segment market strategy.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782C9-3246-4281-44C9-E05DC0913550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E803D9-065D-F330-7147-5B5E5547CA6B}"/>
              </a:ext>
            </a:extLst>
          </p:cNvPr>
          <p:cNvCxnSpPr/>
          <p:nvPr/>
        </p:nvCxnSpPr>
        <p:spPr>
          <a:xfrm>
            <a:off x="4163325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3785D4A8-CBAB-4A09-7976-87BF70360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6" y="1307023"/>
            <a:ext cx="4057760" cy="3135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761074-4E26-9A76-AB5F-64072AB2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27" y="1307022"/>
            <a:ext cx="3964664" cy="313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31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C7D4-DB3B-0D42-B097-2768D077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AB7C-DC85-9019-B2B3-82DF4D364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Get Generate a report which contains the top 5 customers who received an average high  pre_invoice_discount_pct  for the  fiscal  year 2021  and in the Indian  market. The final output contains these fields, </a:t>
            </a:r>
          </a:p>
          <a:p>
            <a:r>
              <a:rPr lang="en-US" sz="2400" dirty="0"/>
              <a:t>customer_code </a:t>
            </a:r>
          </a:p>
          <a:p>
            <a:r>
              <a:rPr lang="en-US" sz="2400" dirty="0"/>
              <a:t>customer </a:t>
            </a:r>
          </a:p>
          <a:p>
            <a:r>
              <a:rPr lang="en-US" sz="2400" dirty="0"/>
              <a:t>average_discount_percentage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F3A12-7E4D-776C-CEF5-BE8B4B4E8B7F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6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00EA2B-0C88-709D-D5A5-B495E0123F9D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8A9AC-4E99-F030-28C5-6FEDAAEF80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6C59C5-DB59-92A3-5832-3CE1626C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716" y="1600200"/>
            <a:ext cx="4283166" cy="3584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7481A-B723-1049-73DC-B221B63F8FBE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3355817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C90B-F39A-BC6B-3B92-3E01982E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65838-78BB-ADEE-0E81-1DDA03837589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E58E0-3810-877F-8AAA-7EF040953E25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12046-2CA6-03F3-F053-2E0EAECEA583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7F110-B5C3-5A32-66FA-5BE98EF3E353}"/>
              </a:ext>
            </a:extLst>
          </p:cNvPr>
          <p:cNvSpPr txBox="1"/>
          <p:nvPr/>
        </p:nvSpPr>
        <p:spPr>
          <a:xfrm>
            <a:off x="106131" y="4560279"/>
            <a:ext cx="889994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</a:t>
            </a:r>
            <a:r>
              <a:rPr lang="en-US" sz="1600" b="1" dirty="0"/>
              <a:t>average discount rate</a:t>
            </a:r>
            <a:r>
              <a:rPr lang="en-US" sz="1600" dirty="0"/>
              <a:t> across top customers is </a:t>
            </a:r>
            <a:r>
              <a:rPr lang="en-US" sz="1600" b="1" dirty="0"/>
              <a:t>closely aligned around 30%</a:t>
            </a:r>
            <a:r>
              <a:rPr lang="en-US" sz="1600" dirty="0"/>
              <a:t>, indicating consistent pricing policies.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Flipkart</a:t>
            </a:r>
            <a:r>
              <a:rPr lang="en-US" sz="1600" dirty="0"/>
              <a:t> receives the </a:t>
            </a:r>
            <a:r>
              <a:rPr lang="en-US" sz="1600" b="1" dirty="0"/>
              <a:t>highest average discount (30.83%)</a:t>
            </a:r>
            <a:r>
              <a:rPr lang="en-US" sz="1600" dirty="0"/>
              <a:t>, slightly above others like </a:t>
            </a:r>
            <a:r>
              <a:rPr lang="en-US" sz="1600" b="1" dirty="0" err="1"/>
              <a:t>Viveks</a:t>
            </a:r>
            <a:r>
              <a:rPr lang="en-US" sz="1600" b="1" dirty="0"/>
              <a:t> (30.38%)</a:t>
            </a:r>
            <a:r>
              <a:rPr lang="en-US" sz="1600" dirty="0"/>
              <a:t> and </a:t>
            </a:r>
            <a:r>
              <a:rPr lang="en-US" sz="1600" b="1" dirty="0"/>
              <a:t>Amazon (29.33%)</a:t>
            </a:r>
            <a:r>
              <a:rPr lang="en-US" sz="1600" dirty="0"/>
              <a:t>, suggesting competitive incentives offered to major retail partners to maintain sales volume and channel loyalty.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28E37-1711-8992-6647-4FA0CF092737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2C2444-8BC9-C074-CC89-B7F247E99487}"/>
              </a:ext>
            </a:extLst>
          </p:cNvPr>
          <p:cNvCxnSpPr/>
          <p:nvPr/>
        </p:nvCxnSpPr>
        <p:spPr>
          <a:xfrm>
            <a:off x="4163325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A2D3D9F-6B5D-2AA6-AFF5-5CB1631E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12" y="1338489"/>
            <a:ext cx="4178761" cy="31628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20B3E-6FC0-C326-E12F-9D6AF13B0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7" y="1345749"/>
            <a:ext cx="4025398" cy="316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03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0A9D-5988-63FC-A804-A5F4BD6B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65DB1-1D98-CEE8-14DA-1DFAAF9B7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Get the complete report of the Gross sales amount for the customer  “Atliq Exclusive”  for each month. This analysis helps to  get an idea of low and high-performing months and take strategic decisions. The final report contains these columns: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Month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Year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Gross sales Amount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34732-30B2-45C2-F2F9-A3A8575CB15B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7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7161D-F8BF-FD75-58E6-8174B8597867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199DB-F1B1-C40E-213A-7E9C55EC9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84" y="1901594"/>
            <a:ext cx="3918128" cy="4105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78352-5D7C-A780-1CA6-FE3334BDC0D6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3657191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7765-CB08-BFF6-5053-2A3693BF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3BE937-6FAD-BE2B-2BDD-0C4FD11B8144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64FBF-2AEF-4C72-6261-E8F66B46F899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3FC7B-C542-AD33-6774-665D1691F69B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3A48-BA7F-B94C-9101-7CD71A26635E}"/>
              </a:ext>
            </a:extLst>
          </p:cNvPr>
          <p:cNvSpPr txBox="1"/>
          <p:nvPr/>
        </p:nvSpPr>
        <p:spPr>
          <a:xfrm>
            <a:off x="106131" y="4560279"/>
            <a:ext cx="889994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 spike in Nov–Dec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 FY2020 peaked at ~₹20.5M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(highest month).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 COVID shock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hits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Mar–May FY2020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(near-zero in Apr), followed by a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gradual recovery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FY2021 stabilizes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around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₹9–12M/month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recovering above FY2019 levels but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 the FY2020 holiday peak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7CB8A-E453-46CE-BCC1-0BB256E79D3B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334BBC-E9FC-2571-B9AD-F402B483D1E9}"/>
              </a:ext>
            </a:extLst>
          </p:cNvPr>
          <p:cNvCxnSpPr/>
          <p:nvPr/>
        </p:nvCxnSpPr>
        <p:spPr>
          <a:xfrm>
            <a:off x="3821073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D5DA181-5680-AEF7-F775-2601C49E9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053" y="1331698"/>
            <a:ext cx="4485154" cy="3264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532AD8-9014-8368-9025-A236E8C6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65" y="1353482"/>
            <a:ext cx="3662708" cy="324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02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A2A90-7FDE-CA37-13D6-1464DF076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which quarter of 2020, got the maximum total_sold_quantity? The final output contains these fields sorted by the: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Quarter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Total_sold_quantity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4C715-BA3E-ED80-80A0-895970A66957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8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977681-D37C-6B54-65F0-460860ADA38E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BAB22CF-529A-8A59-DEBE-D1565AB4F3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8503" y="2441806"/>
            <a:ext cx="3902802" cy="18771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8FE29F-2481-3184-6781-68C354F78B8C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728903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F3B3-DEDF-5040-1D3D-CD279E4C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3061-8AA9-8788-F948-756914305B66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8767E-B9A8-3247-D6BC-17E616A92DB7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0FEB9-1F32-82C2-1C68-67A317E6D52E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0BE05-95BF-0D3C-5979-C1563494ABC2}"/>
              </a:ext>
            </a:extLst>
          </p:cNvPr>
          <p:cNvSpPr txBox="1"/>
          <p:nvPr/>
        </p:nvSpPr>
        <p:spPr>
          <a:xfrm>
            <a:off x="106131" y="4560279"/>
            <a:ext cx="889994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Q1</a:t>
            </a:r>
            <a:r>
              <a:rPr lang="en-US" sz="1600" dirty="0"/>
              <a:t> delivered the </a:t>
            </a:r>
            <a:r>
              <a:rPr lang="en-US" sz="1600" b="1" dirty="0"/>
              <a:t>highest total sold quantity (≈7.01)</a:t>
            </a:r>
            <a:r>
              <a:rPr lang="en-US" sz="1600" dirty="0"/>
              <a:t>, ahead of </a:t>
            </a:r>
            <a:r>
              <a:rPr lang="en-US" sz="1600" b="1" dirty="0"/>
              <a:t>Q2 (6.65)</a:t>
            </a:r>
            <a:r>
              <a:rPr lang="en-US" sz="1600" dirty="0"/>
              <a:t>, </a:t>
            </a:r>
            <a:r>
              <a:rPr lang="en-US" sz="1600" b="1" dirty="0"/>
              <a:t>Q3 (5.04)</a:t>
            </a:r>
            <a:r>
              <a:rPr lang="en-US" sz="1600" dirty="0"/>
              <a:t>, and a soft </a:t>
            </a:r>
            <a:r>
              <a:rPr lang="en-US" sz="1600" b="1" dirty="0"/>
              <a:t>Q4 (2.08)</a:t>
            </a:r>
            <a:r>
              <a:rPr lang="en-US" sz="1600" dirty="0"/>
              <a:t>—indicating front-loaded demand with a notable dip in Q3.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0D84C-3B6F-EB60-4A70-5AB34EEDB99F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7A191E-EE0C-6642-8002-465642FB1D3D}"/>
              </a:ext>
            </a:extLst>
          </p:cNvPr>
          <p:cNvCxnSpPr/>
          <p:nvPr/>
        </p:nvCxnSpPr>
        <p:spPr>
          <a:xfrm>
            <a:off x="3821073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80B7B975-C7AC-F26B-2C32-D4FDB9EB1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491" y="1317723"/>
            <a:ext cx="4407386" cy="3323533"/>
          </a:xfrm>
          <a:prstGeom prst="rect">
            <a:avLst/>
          </a:prstGeom>
        </p:spPr>
      </p:pic>
      <p:pic>
        <p:nvPicPr>
          <p:cNvPr id="8" name="Content Placeholder 12">
            <a:extLst>
              <a:ext uri="{FF2B5EF4-FFF2-40B4-BE49-F238E27FC236}">
                <a16:creationId xmlns:a16="http://schemas.microsoft.com/office/drawing/2014/main" id="{33A2B090-0897-4885-90E5-E51D88D4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23" y="1860348"/>
            <a:ext cx="3574731" cy="187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88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4522-67E2-461D-5C53-F40AAE43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2143-F9EF-9559-DE8A-1B99FE6C9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Which channel helped to bring more gross sales in the fiscal year 2021 and the percentage of contribution?  The final output  contains these fields: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channel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gross_sales_mln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B2404-7C4F-1EB4-1240-01C2A3EA2509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9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2ADFD-98C9-D651-9FA0-B05691B14589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3803C-E69C-5F61-4F7D-AC5E81CD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138" y="2716704"/>
            <a:ext cx="4221014" cy="1962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C8E730-7DB1-CA61-AAFA-95302E3FFF5A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29993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03F1-EB75-36A7-84F3-AA4F903E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3F33F-9B3F-FB1F-D688-2F13AFDDE863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0EB-7C46-A1B1-C836-052DABFD90E8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E171C-2E25-5EFF-C986-EF0B5050EF82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45C0F-72C8-3C44-AE30-E08AA3C41943}"/>
              </a:ext>
            </a:extLst>
          </p:cNvPr>
          <p:cNvSpPr txBox="1"/>
          <p:nvPr/>
        </p:nvSpPr>
        <p:spPr>
          <a:xfrm>
            <a:off x="106131" y="4560279"/>
            <a:ext cx="88999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FY2021, </a:t>
            </a:r>
            <a:r>
              <a:rPr lang="en-US" sz="1600" b="1" dirty="0"/>
              <a:t>Retail channels dominated sales</a:t>
            </a:r>
            <a:r>
              <a:rPr lang="en-US" sz="1600" dirty="0"/>
              <a:t>, contributing </a:t>
            </a:r>
            <a:r>
              <a:rPr lang="en-US" sz="1600" b="1" dirty="0"/>
              <a:t>73.23% (₹1,219M)</a:t>
            </a:r>
            <a:r>
              <a:rPr lang="en-US" sz="1600" dirty="0"/>
              <a:t> of total revenue, while </a:t>
            </a:r>
            <a:r>
              <a:rPr lang="en-US" sz="1600" b="1" dirty="0"/>
              <a:t>Direct (15.47%)</a:t>
            </a:r>
            <a:r>
              <a:rPr lang="en-US" sz="1600" dirty="0"/>
              <a:t> and </a:t>
            </a:r>
            <a:r>
              <a:rPr lang="en-US" sz="1600" b="1" dirty="0"/>
              <a:t>Distributor (11.3%)</a:t>
            </a:r>
            <a:r>
              <a:rPr lang="en-US" sz="1600" dirty="0"/>
              <a:t> channels played smaller roles.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indicates AtliQ’s strong reliance on retail partners, suggesting opportunities to </a:t>
            </a:r>
            <a:r>
              <a:rPr lang="en-US" sz="1600" b="1" dirty="0"/>
              <a:t>diversify sales through direct or distributor channels</a:t>
            </a:r>
            <a:r>
              <a:rPr lang="en-US" sz="1600" dirty="0"/>
              <a:t> to reduce dependency and enhance margin control.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B7B6A-67D9-3C22-68BF-32F3357808BC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2A8653-C2A5-DE29-A848-3F8D0AF66823}"/>
              </a:ext>
            </a:extLst>
          </p:cNvPr>
          <p:cNvCxnSpPr/>
          <p:nvPr/>
        </p:nvCxnSpPr>
        <p:spPr>
          <a:xfrm>
            <a:off x="3831289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926173-6140-A239-D5D4-4CFBD2EF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506" y="1422016"/>
            <a:ext cx="4377883" cy="28414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B2D562-0BE5-1696-3DB0-759EDD5FF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11" y="1422017"/>
            <a:ext cx="3519678" cy="28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21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DF25-E3BD-9B13-5F69-6115A554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955C1-2114-2072-BD21-A46D4127B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4495800" cy="6858000"/>
          </a:xfrm>
          <a:solidFill>
            <a:srgbClr val="E6F0FA"/>
          </a:solidFill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Get the Top 3 products in each division that have a high total_sold_quantity in the </a:t>
            </a:r>
            <a:r>
              <a:rPr lang="en-US" sz="2400" dirty="0" err="1"/>
              <a:t>fiscal_year</a:t>
            </a:r>
            <a:r>
              <a:rPr lang="en-US" sz="2400" dirty="0"/>
              <a:t> 2021? The final output contains these fields: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product_code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total_sold_quantity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rank_order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35BB7-2626-8ECC-5CA8-2F39435E9533}"/>
              </a:ext>
            </a:extLst>
          </p:cNvPr>
          <p:cNvSpPr txBox="1"/>
          <p:nvPr/>
        </p:nvSpPr>
        <p:spPr>
          <a:xfrm>
            <a:off x="332045" y="495508"/>
            <a:ext cx="3815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🧩 Request</a:t>
            </a:r>
            <a:r>
              <a:rPr lang="en-US" dirty="0"/>
              <a:t> 10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F1C71-22CB-8741-11AF-8BF9F89B9F84}"/>
              </a:ext>
            </a:extLst>
          </p:cNvPr>
          <p:cNvSpPr txBox="1"/>
          <p:nvPr/>
        </p:nvSpPr>
        <p:spPr>
          <a:xfrm>
            <a:off x="4827846" y="495508"/>
            <a:ext cx="38257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4325A"/>
                </a:solidFill>
                <a:latin typeface="Montserrat"/>
              </a:defRPr>
            </a:pPr>
            <a:r>
              <a:rPr dirty="0"/>
              <a:t>📊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EC1D84-27EA-EE9D-2A9F-F953F8762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793" y="2421372"/>
            <a:ext cx="4137787" cy="3478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E04719-1F23-69BD-20B7-F0EC13C19158}"/>
              </a:ext>
            </a:extLst>
          </p:cNvPr>
          <p:cNvSpPr txBox="1"/>
          <p:nvPr/>
        </p:nvSpPr>
        <p:spPr>
          <a:xfrm>
            <a:off x="408670" y="6281779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</p:spTree>
    <p:extLst>
      <p:ext uri="{BB962C8B-B14F-4D97-AF65-F5344CB8AC3E}">
        <p14:creationId xmlns:p14="http://schemas.microsoft.com/office/powerpoint/2010/main" val="120123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9690-169A-D5A9-45E2-C652EFB3A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C5D09-9B8B-69B0-8BE6-FBF2364E5BFE}"/>
              </a:ext>
            </a:extLst>
          </p:cNvPr>
          <p:cNvSpPr txBox="1"/>
          <p:nvPr/>
        </p:nvSpPr>
        <p:spPr>
          <a:xfrm>
            <a:off x="572137" y="-17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>
                <a:solidFill>
                  <a:srgbClr val="1A3C6B"/>
                </a:solidFill>
              </a:defRPr>
            </a:pPr>
            <a:r>
              <a:rPr dirty="0"/>
              <a:t>Conversion of Output to Visual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20552-04D1-7765-CF3A-E972CA34E641}"/>
              </a:ext>
            </a:extLst>
          </p:cNvPr>
          <p:cNvSpPr txBox="1"/>
          <p:nvPr/>
        </p:nvSpPr>
        <p:spPr>
          <a:xfrm>
            <a:off x="914400" y="6957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Query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68162-3853-55C2-E2ED-208321CBA9D6}"/>
              </a:ext>
            </a:extLst>
          </p:cNvPr>
          <p:cNvSpPr txBox="1"/>
          <p:nvPr/>
        </p:nvSpPr>
        <p:spPr>
          <a:xfrm>
            <a:off x="5486400" y="64467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1A3C6B"/>
                </a:solidFill>
              </a:defRPr>
            </a:pPr>
            <a:r>
              <a:rPr dirty="0"/>
              <a:t>Visualization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5494B-D6F4-C9CC-1A2D-CB75679F153B}"/>
              </a:ext>
            </a:extLst>
          </p:cNvPr>
          <p:cNvSpPr txBox="1"/>
          <p:nvPr/>
        </p:nvSpPr>
        <p:spPr>
          <a:xfrm>
            <a:off x="106131" y="4560279"/>
            <a:ext cx="88999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C6B"/>
                </a:solidFill>
              </a:defRPr>
            </a:pPr>
            <a:r>
              <a:rPr dirty="0"/>
              <a:t>💡 Insights: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Pen Drive DRC</a:t>
            </a:r>
            <a:r>
              <a:rPr lang="en-US" altLang="en-US" sz="1600" dirty="0">
                <a:latin typeface="Arial" panose="020B0604020202020204" pitchFamily="34" charset="0"/>
              </a:rPr>
              <a:t> is the </a:t>
            </a:r>
            <a:r>
              <a:rPr lang="en-US" altLang="en-US" sz="1600" b="1" dirty="0">
                <a:latin typeface="Arial" panose="020B0604020202020204" pitchFamily="34" charset="0"/>
              </a:rPr>
              <a:t>top-selling SKU</a:t>
            </a:r>
            <a:r>
              <a:rPr lang="en-US" altLang="en-US" sz="1600" dirty="0">
                <a:latin typeface="Arial" panose="020B0604020202020204" pitchFamily="34" charset="0"/>
              </a:rPr>
              <a:t> (~</a:t>
            </a:r>
            <a:r>
              <a:rPr lang="en-US" altLang="en-US" sz="1600" b="1" dirty="0">
                <a:latin typeface="Arial" panose="020B0604020202020204" pitchFamily="34" charset="0"/>
              </a:rPr>
              <a:t>1.36M units</a:t>
            </a:r>
            <a:r>
              <a:rPr lang="en-US" altLang="en-US" sz="1600" dirty="0">
                <a:latin typeface="Arial" panose="020B0604020202020204" pitchFamily="34" charset="0"/>
              </a:rPr>
              <a:t>), followed by </a:t>
            </a:r>
            <a:r>
              <a:rPr lang="en-US" altLang="en-US" sz="1600" b="1" dirty="0">
                <a:latin typeface="Arial" panose="020B0604020202020204" pitchFamily="34" charset="0"/>
              </a:rPr>
              <a:t>Maxima </a:t>
            </a:r>
            <a:r>
              <a:rPr lang="en-US" altLang="en-US" sz="1600" b="1" dirty="0" err="1">
                <a:latin typeface="Arial" panose="020B0604020202020204" pitchFamily="34" charset="0"/>
              </a:rPr>
              <a:t>Ms</a:t>
            </a:r>
            <a:r>
              <a:rPr lang="en-US" altLang="en-US" sz="1600" b="1" dirty="0">
                <a:latin typeface="Arial" panose="020B0604020202020204" pitchFamily="34" charset="0"/>
              </a:rPr>
              <a:t> (0.84M)</a:t>
            </a:r>
            <a:r>
              <a:rPr lang="en-US" altLang="en-US" sz="1600" dirty="0">
                <a:latin typeface="Arial" panose="020B0604020202020204" pitchFamily="34" charset="0"/>
              </a:rPr>
              <a:t> and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Pen Drive 2-in-1 (0.70M)</a:t>
            </a:r>
            <a:r>
              <a:rPr lang="en-US" altLang="en-US" sz="1600" dirty="0">
                <a:latin typeface="Arial" panose="020B0604020202020204" pitchFamily="34" charset="0"/>
              </a:rPr>
              <a:t>—unit sales are </a:t>
            </a:r>
            <a:r>
              <a:rPr lang="en-US" altLang="en-US" sz="1600" b="1" dirty="0">
                <a:latin typeface="Arial" panose="020B0604020202020204" pitchFamily="34" charset="0"/>
              </a:rPr>
              <a:t>heavily concentrated in the N&amp;S / P&amp;A lines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PC division SKUs</a:t>
            </a:r>
            <a:r>
              <a:rPr lang="en-US" altLang="en-US" sz="1600" dirty="0">
                <a:latin typeface="Arial" panose="020B0604020202020204" pitchFamily="34" charset="0"/>
              </a:rPr>
              <a:t> (</a:t>
            </a:r>
            <a:r>
              <a:rPr lang="en-US" altLang="en-US" sz="1600" b="1" dirty="0">
                <a:latin typeface="Arial" panose="020B0604020202020204" pitchFamily="34" charset="0"/>
              </a:rPr>
              <a:t>AQ Digit ~0.03M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lang="en-US" altLang="en-US" sz="1600" b="1" dirty="0">
                <a:latin typeface="Arial" panose="020B0604020202020204" pitchFamily="34" charset="0"/>
              </a:rPr>
              <a:t>AQ Velocity ~0.02M</a:t>
            </a:r>
            <a:r>
              <a:rPr lang="en-US" altLang="en-US" sz="1600" dirty="0">
                <a:latin typeface="Arial" panose="020B0604020202020204" pitchFamily="34" charset="0"/>
              </a:rPr>
              <a:t>) contribute </a:t>
            </a:r>
            <a:r>
              <a:rPr lang="en-US" altLang="en-US" sz="1600" b="1" dirty="0">
                <a:latin typeface="Arial" panose="020B0604020202020204" pitchFamily="34" charset="0"/>
              </a:rPr>
              <a:t>negligible volume</a:t>
            </a:r>
            <a:r>
              <a:rPr lang="en-US" altLang="en-US" sz="1600" dirty="0">
                <a:latin typeface="Arial" panose="020B0604020202020204" pitchFamily="34" charset="0"/>
              </a:rPr>
              <a:t>, suggesting candidates for </a:t>
            </a:r>
            <a:r>
              <a:rPr lang="en-US" altLang="en-US" sz="1600" b="1" dirty="0">
                <a:latin typeface="Arial" panose="020B0604020202020204" pitchFamily="34" charset="0"/>
              </a:rPr>
              <a:t>SKU rationalization</a:t>
            </a:r>
            <a:r>
              <a:rPr lang="en-US" altLang="en-US" sz="1600" dirty="0">
                <a:latin typeface="Arial" panose="020B0604020202020204" pitchFamily="34" charset="0"/>
              </a:rPr>
              <a:t> or a rethink of positioning.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The </a:t>
            </a:r>
            <a:r>
              <a:rPr lang="en-US" altLang="en-US" sz="1600" b="1" dirty="0">
                <a:latin typeface="Arial" panose="020B0604020202020204" pitchFamily="34" charset="0"/>
              </a:rPr>
              <a:t>top 4 SKUs deliver the vast majority of FY2021 units (~3.33M)</a:t>
            </a:r>
            <a:r>
              <a:rPr lang="en-US" altLang="en-US" sz="1600" dirty="0">
                <a:latin typeface="Arial" panose="020B0604020202020204" pitchFamily="34" charset="0"/>
              </a:rPr>
              <a:t> → prioritize supply, promos, and channel space on these winners.</a:t>
            </a:r>
          </a:p>
          <a:p>
            <a:pPr>
              <a:defRPr sz="16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420D7-E82F-F3D9-7198-2595E6BC4172}"/>
              </a:ext>
            </a:extLst>
          </p:cNvPr>
          <p:cNvSpPr txBox="1"/>
          <p:nvPr/>
        </p:nvSpPr>
        <p:spPr>
          <a:xfrm>
            <a:off x="408670" y="6286887"/>
            <a:ext cx="827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rPr dirty="0"/>
              <a:t>Consumer Goods Domain | AtliQ Adhoc SQL Insights | © Asim Ahmed | linkedin.com/in/asimahmedio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D9FD8D-45AE-8B31-47AD-759DAFB7648C}"/>
              </a:ext>
            </a:extLst>
          </p:cNvPr>
          <p:cNvCxnSpPr/>
          <p:nvPr/>
        </p:nvCxnSpPr>
        <p:spPr>
          <a:xfrm>
            <a:off x="3831289" y="2857496"/>
            <a:ext cx="65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CFA1648-DA3D-5075-019D-90D1F325E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619" y="1422015"/>
            <a:ext cx="4421372" cy="2841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B71828-CBC9-EC27-9B78-418B0FBD4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8" y="1422016"/>
            <a:ext cx="3683146" cy="282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91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505F-28EA-F11D-C5FA-C89FDE19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1A3C6B"/>
                </a:solidFill>
              </a:defRPr>
            </a:pPr>
            <a:r>
              <a:rPr lang="en-US" sz="3600" b="1" dirty="0">
                <a:solidFill>
                  <a:srgbClr val="1A3C6B"/>
                </a:solidFill>
                <a:latin typeface="+mn-lt"/>
                <a:ea typeface="+mn-ea"/>
                <a:cs typeface="+mn-cs"/>
              </a:rPr>
              <a:t>Explore the Full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74384-02B5-3253-175B-36E5EFDB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365" y="2227943"/>
            <a:ext cx="5114177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Check out my GitHub repository for detailed insights, SQL scripts, and presentation materials.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🐙 </a:t>
            </a:r>
            <a:r>
              <a:rPr lang="en-US" sz="1900" b="1" dirty="0"/>
              <a:t>GitHub:</a:t>
            </a:r>
            <a:r>
              <a:rPr lang="en-US" sz="1900" dirty="0"/>
              <a:t> </a:t>
            </a:r>
            <a:r>
              <a:rPr lang="en-US" sz="1900" dirty="0">
                <a:hlinkClick r:id="rId2"/>
              </a:rPr>
              <a:t>github.com/</a:t>
            </a:r>
            <a:r>
              <a:rPr lang="en-US" sz="1900" dirty="0" err="1">
                <a:hlinkClick r:id="rId2"/>
              </a:rPr>
              <a:t>asimahmedhub</a:t>
            </a:r>
            <a:r>
              <a:rPr lang="en-US" sz="1900" dirty="0">
                <a:hlinkClick r:id="rId2"/>
              </a:rPr>
              <a:t>/AtliQ-Adhoc-SQL-Insights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📊 </a:t>
            </a:r>
            <a:r>
              <a:rPr lang="en-US" sz="1900" b="1" dirty="0"/>
              <a:t>View Interactive Dashboard:</a:t>
            </a:r>
            <a:r>
              <a:rPr lang="en-US" sz="1900" dirty="0"/>
              <a:t> </a:t>
            </a:r>
            <a:r>
              <a:rPr lang="en-US" sz="1900" dirty="0">
                <a:hlinkClick r:id="rId3"/>
              </a:rPr>
              <a:t>Consumer Goods Project — Power BI Report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💼 </a:t>
            </a:r>
            <a:r>
              <a:rPr lang="en-US" sz="1900" i="1" dirty="0"/>
              <a:t>Connect with me on LinkedIn: </a:t>
            </a:r>
            <a:r>
              <a:rPr lang="en-US" sz="1900" i="1" dirty="0">
                <a:hlinkClick r:id="rId4"/>
              </a:rPr>
              <a:t>Asim Ahmed (io)</a:t>
            </a:r>
            <a:endParaRPr lang="en-US" sz="1900" dirty="0"/>
          </a:p>
          <a:p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F89FB677-5547-B8B4-FA90-A1D573130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59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6584</TotalTime>
  <Words>1844</Words>
  <Application>Microsoft Office PowerPoint</Application>
  <PresentationFormat>On-screen Show (4:3)</PresentationFormat>
  <Paragraphs>304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Office Theme</vt:lpstr>
      <vt:lpstr>PowerPoint Presentation</vt:lpstr>
      <vt:lpstr>About the project</vt:lpstr>
      <vt:lpstr>Problem Statement &amp; Task </vt:lpstr>
      <vt:lpstr>Dataset &amp;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Explore the Full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Asim Ahmed</cp:lastModifiedBy>
  <cp:revision>12</cp:revision>
  <dcterms:created xsi:type="dcterms:W3CDTF">2013-01-27T09:14:16Z</dcterms:created>
  <dcterms:modified xsi:type="dcterms:W3CDTF">2025-11-03T06:24:07Z</dcterms:modified>
  <cp:category/>
</cp:coreProperties>
</file>